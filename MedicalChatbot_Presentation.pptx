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61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274320"/>
            <a:ext cx="2286000" cy="2286000"/>
          </a:xfrm>
          <a:prstGeom prst="ellipse">
            <a:avLst/>
          </a:prstGeom>
          <a:solidFill>
            <a:srgbClr val="00A896">
              <a:alpha val="8000"/>
            </a:srgbClr>
          </a:solidFill>
          <a:ln w="1905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1645920" cy="1645920"/>
          </a:xfrm>
          <a:prstGeom prst="ellipse">
            <a:avLst/>
          </a:prstGeom>
          <a:solidFill>
            <a:srgbClr val="00A896">
              <a:alpha val="6000"/>
            </a:srgbClr>
          </a:solidFill>
          <a:ln w="1905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3657600"/>
            <a:ext cx="1097280" cy="1097280"/>
          </a:xfrm>
          <a:prstGeom prst="ellipse">
            <a:avLst/>
          </a:prstGeom>
          <a:solidFill>
            <a:srgbClr val="00A896">
              <a:alpha val="5000"/>
            </a:srgbClr>
          </a:solidFill>
          <a:ln w="19050">
            <a:solidFill>
              <a:srgbClr val="00A896">
                <a:alpha val="3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Medical Chatbot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Sarvam-2B + LoRA + IndicTrans2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2834640"/>
            <a:ext cx="1572768" cy="384048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834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English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76272" y="2834640"/>
            <a:ext cx="1572768" cy="384048"/>
          </a:xfrm>
          <a:prstGeom prst="rect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76272" y="2834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हिंदी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95344" y="2834640"/>
            <a:ext cx="1572768" cy="384048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95344" y="2834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తెలుగు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14416" y="2834640"/>
            <a:ext cx="1572768" cy="384048"/>
          </a:xfrm>
          <a:prstGeom prst="rect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14416" y="2834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தமிழ்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33488" y="2834640"/>
            <a:ext cx="1572768" cy="384048"/>
          </a:xfrm>
          <a:prstGeom prst="rect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33488" y="283464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ಕನ್ನಡ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Educational prototype · Always consult a licensed doctor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a multilingual medical chatbot?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4114800" cy="4023360"/>
          </a:xfrm>
          <a:prstGeom prst="rect">
            <a:avLst/>
          </a:prstGeom>
          <a:solidFill>
            <a:srgbClr val="013A42"/>
          </a:solidFill>
          <a:ln w="12700">
            <a:solidFill>
              <a:srgbClr val="013A4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887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34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01168" y="1920240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1.4B+ Indians primarily speak regional languages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1168" y="2450592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4505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~125M Indians are English-proficient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01168" y="2980944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9809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info is mostly English-only online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01168" y="3511296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51129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 = delayed medical help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01168" y="4041648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041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multilingual medical AI for Indic scripts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480560" y="1051560"/>
            <a:ext cx="4297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80560" y="1051560"/>
            <a:ext cx="73152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43000"/>
            <a:ext cx="457200" cy="4572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617720" y="1097280"/>
            <a:ext cx="548640" cy="54864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03520" y="1115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303520" y="1463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that understands &amp; responds in Hindi, Telugu, Tamil, Kannada and English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80560" y="2350008"/>
            <a:ext cx="4297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480560" y="2350008"/>
            <a:ext cx="73152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441448"/>
            <a:ext cx="457200" cy="4572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617720" y="2395728"/>
            <a:ext cx="548640" cy="54864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303520" y="24140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303520" y="27614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real medical datasets into Indian languages using IndicTrans2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480560" y="3648456"/>
            <a:ext cx="4297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480560" y="3648456"/>
            <a:ext cx="73152" cy="1170432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739896"/>
            <a:ext cx="457200" cy="45720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4617720" y="3694176"/>
            <a:ext cx="548640" cy="548640"/>
          </a:xfrm>
          <a:prstGeom prst="ellipse">
            <a:avLst/>
          </a:prstGeom>
          <a:solidFill>
            <a:srgbClr val="E76F51">
              <a:alpha val="20000"/>
            </a:srgbClr>
          </a:solidFill>
          <a:ln w="12700">
            <a:solidFill>
              <a:srgbClr val="E76F51">
                <a:alpha val="50000"/>
              </a:srgbClr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303520" y="371246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5303520" y="40599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&amp; South Indian language speakers seeking basic health guidance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from user input to multilingual response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50876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143000"/>
            <a:ext cx="457200" cy="411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960120"/>
            <a:ext cx="347472" cy="34747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1645920"/>
            <a:ext cx="1508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0040" y="214884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Indian language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English query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6232" y="1828800"/>
            <a:ext cx="182880" cy="274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039112" y="109728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039112" y="1097280"/>
            <a:ext cx="150876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4892" y="1143000"/>
            <a:ext cx="457200" cy="4114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901952" y="960120"/>
            <a:ext cx="347472" cy="34747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901952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039112" y="1645920"/>
            <a:ext cx="1508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2039112" y="214884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range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828800"/>
            <a:ext cx="182880" cy="2743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758184" y="109728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758184" y="1097280"/>
            <a:ext cx="1508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3964" y="1143000"/>
            <a:ext cx="457200" cy="41148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621024" y="960120"/>
            <a:ext cx="347472" cy="34747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621024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3758184" y="1645920"/>
            <a:ext cx="1508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Sarvam-2B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+LoRA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758184" y="214884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</a:t>
            </a:r>
            <a:endParaRPr lang="en-US" sz="9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76" y="1828800"/>
            <a:ext cx="182880" cy="27432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477256" y="109728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5477256" y="1097280"/>
            <a:ext cx="1508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3036" y="1143000"/>
            <a:ext cx="457200" cy="41148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5340096" y="960120"/>
            <a:ext cx="347472" cy="34747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5340096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5477256" y="1645920"/>
            <a:ext cx="1508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5477256" y="214884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temp=0.4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new tokens</a:t>
            </a:r>
            <a:endParaRPr lang="en-US" sz="9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828800"/>
            <a:ext cx="182880" cy="27432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7196328" y="109728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7196328" y="1097280"/>
            <a:ext cx="1508760" cy="5029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2108" y="1143000"/>
            <a:ext cx="457200" cy="41148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7059168" y="960120"/>
            <a:ext cx="347472" cy="34747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7059168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7196328" y="1645920"/>
            <a:ext cx="15087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UI</a:t>
            </a:r>
            <a:endParaRPr lang="en-US" sz="1200" dirty="0"/>
          </a:p>
        </p:txBody>
      </p:sp>
      <p:sp>
        <p:nvSpPr>
          <p:cNvPr id="43" name="Text 32"/>
          <p:cNvSpPr/>
          <p:nvPr/>
        </p:nvSpPr>
        <p:spPr>
          <a:xfrm>
            <a:off x="7196328" y="2148840"/>
            <a:ext cx="1508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5-language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950" dirty="0"/>
          </a:p>
        </p:txBody>
      </p:sp>
      <p:sp>
        <p:nvSpPr>
          <p:cNvPr id="44" name="Shape 33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013A42"/>
          </a:solidFill>
          <a:ln w="12700">
            <a:solidFill>
              <a:srgbClr val="013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34"/>
          <p:cNvSpPr/>
          <p:nvPr/>
        </p:nvSpPr>
        <p:spPr>
          <a:xfrm>
            <a:off x="365760" y="3273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100" dirty="0"/>
          </a:p>
        </p:txBody>
      </p:sp>
      <p:sp>
        <p:nvSpPr>
          <p:cNvPr id="46" name="Shape 35"/>
          <p:cNvSpPr/>
          <p:nvPr/>
        </p:nvSpPr>
        <p:spPr>
          <a:xfrm>
            <a:off x="502920" y="3657600"/>
            <a:ext cx="1508760" cy="1097280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502920" y="3657600"/>
            <a:ext cx="15087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Medical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4069080"/>
            <a:ext cx="164592" cy="256032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2194560" y="3657600"/>
            <a:ext cx="1508760" cy="1097280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50" name="Text 38"/>
          <p:cNvSpPr/>
          <p:nvPr/>
        </p:nvSpPr>
        <p:spPr>
          <a:xfrm>
            <a:off x="2194560" y="3657600"/>
            <a:ext cx="15087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IndicTrans2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000" dirty="0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4069080"/>
            <a:ext cx="164592" cy="256032"/>
          </a:xfrm>
          <a:prstGeom prst="rect">
            <a:avLst/>
          </a:prstGeom>
        </p:spPr>
      </p:pic>
      <p:sp>
        <p:nvSpPr>
          <p:cNvPr id="52" name="Shape 39"/>
          <p:cNvSpPr/>
          <p:nvPr/>
        </p:nvSpPr>
        <p:spPr>
          <a:xfrm>
            <a:off x="3886200" y="3657600"/>
            <a:ext cx="1508760" cy="109728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3886200" y="3657600"/>
            <a:ext cx="15087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Sarvam-2B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0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4069080"/>
            <a:ext cx="164592" cy="256032"/>
          </a:xfrm>
          <a:prstGeom prst="rect">
            <a:avLst/>
          </a:prstGeom>
        </p:spPr>
      </p:pic>
      <p:sp>
        <p:nvSpPr>
          <p:cNvPr id="55" name="Shape 41"/>
          <p:cNvSpPr/>
          <p:nvPr/>
        </p:nvSpPr>
        <p:spPr>
          <a:xfrm>
            <a:off x="5577840" y="3657600"/>
            <a:ext cx="1508760" cy="1097280"/>
          </a:xfrm>
          <a:prstGeom prst="rect">
            <a:avLst/>
          </a:prstGeom>
          <a:solidFill>
            <a:srgbClr val="E76F51">
              <a:alpha val="20000"/>
            </a:srgbClr>
          </a:solidFill>
          <a:ln w="12700">
            <a:solidFill>
              <a:srgbClr val="E76F51">
                <a:alpha val="60000"/>
              </a:srgbClr>
            </a:solidFill>
            <a:prstDash val="solid"/>
          </a:ln>
        </p:spPr>
      </p:sp>
      <p:sp>
        <p:nvSpPr>
          <p:cNvPr id="56" name="Text 42"/>
          <p:cNvSpPr/>
          <p:nvPr/>
        </p:nvSpPr>
        <p:spPr>
          <a:xfrm>
            <a:off x="5577840" y="3657600"/>
            <a:ext cx="15087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000" dirty="0"/>
          </a:p>
        </p:txBody>
      </p:sp>
      <p:pic>
        <p:nvPicPr>
          <p:cNvPr id="57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4069080"/>
            <a:ext cx="164592" cy="256032"/>
          </a:xfrm>
          <a:prstGeom prst="rect">
            <a:avLst/>
          </a:prstGeom>
        </p:spPr>
      </p:pic>
      <p:sp>
        <p:nvSpPr>
          <p:cNvPr id="58" name="Shape 43"/>
          <p:cNvSpPr/>
          <p:nvPr/>
        </p:nvSpPr>
        <p:spPr>
          <a:xfrm>
            <a:off x="7269480" y="3657600"/>
            <a:ext cx="1508760" cy="109728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59" name="Text 44"/>
          <p:cNvSpPr/>
          <p:nvPr/>
        </p:nvSpPr>
        <p:spPr>
          <a:xfrm>
            <a:off x="7269480" y="3657600"/>
            <a:ext cx="15087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✓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Sarvam-2B?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base model for Indian languages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411480"/>
          </a:xfrm>
          <a:prstGeom prst="rect">
            <a:avLst/>
          </a:prstGeom>
          <a:solidFill>
            <a:srgbClr val="013A42"/>
          </a:solidFill>
          <a:ln w="12700">
            <a:solidFill>
              <a:srgbClr val="013A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960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960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960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23760" y="960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371600"/>
            <a:ext cx="8595360" cy="484632"/>
          </a:xfrm>
          <a:prstGeom prst="rect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71600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Sarvam-2B v0.5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86000" y="1371600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0" y="137160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0" y="1371600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223760" y="137160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fit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1874520"/>
            <a:ext cx="8595360" cy="4846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874520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86000" y="1874520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Weak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0" y="187452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60720" y="1874520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23760" y="187452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Hallucin.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2377440"/>
            <a:ext cx="8595360" cy="4846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377440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LLaMA-3.2-3B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286000" y="2377440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0" y="237744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60720" y="2377440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23760" y="237744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English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2880360"/>
            <a:ext cx="8595360" cy="4846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880360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Gemma-2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286000" y="2880360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Moderate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114800" y="288036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760720" y="2880360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223760" y="288036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Too large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74320" y="3383280"/>
            <a:ext cx="8595360" cy="4846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Text 34"/>
          <p:cNvSpPr/>
          <p:nvPr/>
        </p:nvSpPr>
        <p:spPr>
          <a:xfrm>
            <a:off x="274320" y="3383280"/>
            <a:ext cx="2011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Claude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286000" y="3383280"/>
            <a:ext cx="1828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114800" y="338328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760720" y="3383280"/>
            <a:ext cx="1463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API only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223760" y="3383280"/>
            <a:ext cx="1645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Cost/priv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74320" y="4069080"/>
            <a:ext cx="8595360" cy="82296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60520"/>
            <a:ext cx="411480" cy="41148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960120" y="411480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Sarvam-2B is trained by AI4Bharat specifically on Hindi, Telugu, Tamil, Kannada and 8 other Indic languages. It natively understands and generates Indic scripts — no fine-tuning tricks needed just to produce valid characters.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medical dataset exists — so we create 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663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663440" cy="457200"/>
          </a:xfrm>
          <a:prstGeom prst="rect">
            <a:avLst/>
          </a:prstGeom>
          <a:solidFill>
            <a:srgbClr val="013A42"/>
          </a:solidFill>
          <a:ln w="12700">
            <a:solidFill>
              <a:srgbClr val="013A4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8755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Source Datasets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1554480"/>
            <a:ext cx="4389120" cy="932688"/>
          </a:xfrm>
          <a:prstGeom prst="rect">
            <a:avLst/>
          </a:prstGeom>
          <a:solidFill>
            <a:srgbClr val="00A896">
              <a:alpha val="1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554480"/>
            <a:ext cx="64008" cy="9326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5727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ruslanmv/ai-medical-chatbot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" y="18653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Doctor–patient dialogues  ·  250,000 rows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6928" y="209397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1,500 used for training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606040"/>
            <a:ext cx="4389120" cy="932688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" y="2606040"/>
            <a:ext cx="64008" cy="9326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624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lavita/medical-qa-datasets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29169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health questions  ·  health_advice subset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6928" y="31455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500 curated rows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657600"/>
            <a:ext cx="4389120" cy="932688"/>
          </a:xfrm>
          <a:prstGeom prst="rect">
            <a:avLst/>
          </a:prstGeom>
          <a:solidFill>
            <a:srgbClr val="02C39A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3657600"/>
            <a:ext cx="64008" cy="9326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" y="36758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lavita/medical-qa-datasets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39684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Q&amp;A pairs  ·  mediqa subset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66928" y="41970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300 curated rows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212080" y="960120"/>
            <a:ext cx="3657600" cy="3931920"/>
          </a:xfrm>
          <a:prstGeom prst="rect">
            <a:avLst/>
          </a:prstGeom>
          <a:solidFill>
            <a:srgbClr val="013A42"/>
          </a:solidFill>
          <a:ln w="12700">
            <a:solidFill>
              <a:srgbClr val="013A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024128"/>
            <a:ext cx="347472" cy="34747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733288" y="10424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Pipeline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25780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ai4bharat/indictrans2-en-indic-1B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5257800" y="171907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Q&amp;A pairs × 4 languages =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0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high-quality translated samples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303520" y="2423160"/>
            <a:ext cx="3474720" cy="438912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349240" y="2423160"/>
            <a:ext cx="33832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Hindi (hin_Deva)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303520" y="2971800"/>
            <a:ext cx="3474720" cy="438912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349240" y="2971800"/>
            <a:ext cx="33832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Telugu (tel_Telu)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303520" y="3520440"/>
            <a:ext cx="3474720" cy="43891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349240" y="3520440"/>
            <a:ext cx="33832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Tamil (tam_Taml)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303520" y="4069080"/>
            <a:ext cx="3474720" cy="438912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349240" y="4069080"/>
            <a:ext cx="3383280" cy="438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Kannada (kan_Knda)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257800" y="466344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Same approach used by AI4Bharat &amp; Sarvam AI teams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enables efficient training on a single T4 GPU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737360" cy="1508760"/>
          </a:xfrm>
          <a:prstGeom prst="rect">
            <a:avLst/>
          </a:prstGeom>
          <a:solidFill>
            <a:srgbClr val="2563EB">
              <a:alpha val="18000"/>
            </a:srgbClr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17373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24712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Sarvam-2B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432" y="1600200"/>
            <a:ext cx="246888" cy="3383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33472" y="1051560"/>
            <a:ext cx="1737360" cy="1508760"/>
          </a:xfrm>
          <a:prstGeom prst="rect">
            <a:avLst/>
          </a:prstGeom>
          <a:solidFill>
            <a:srgbClr val="00A896">
              <a:alpha val="18000"/>
            </a:srgbClr>
          </a:solidFill>
          <a:ln w="1905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33472" y="1051560"/>
            <a:ext cx="17373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33472" y="1124712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33472" y="1719072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r=16, α=32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~8M params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1600200"/>
            <a:ext cx="246888" cy="3383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18304" y="1051560"/>
            <a:ext cx="1737360" cy="1508760"/>
          </a:xfrm>
          <a:prstGeom prst="rect">
            <a:avLst/>
          </a:prstGeom>
          <a:solidFill>
            <a:srgbClr val="028090">
              <a:alpha val="18000"/>
            </a:srgbClr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18304" y="1051560"/>
            <a:ext cx="1737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18304" y="1124712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718304" y="1719072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2300+ samples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languages</a:t>
            </a:r>
            <a:endParaRPr lang="en-US" sz="10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600200"/>
            <a:ext cx="246888" cy="33832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803136" y="1051560"/>
            <a:ext cx="1737360" cy="1508760"/>
          </a:xfrm>
          <a:prstGeom prst="rect">
            <a:avLst/>
          </a:prstGeom>
          <a:solidFill>
            <a:srgbClr val="10B981">
              <a:alpha val="18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03136" y="1051560"/>
            <a:ext cx="17373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803136" y="1124712"/>
            <a:ext cx="17373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803136" y="1719072"/>
            <a:ext cx="1737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epochs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cosineLR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274320" y="28346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2834640"/>
            <a:ext cx="411480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65760" y="2862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Configuration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411480" y="3273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(r):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2011680" y="3273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11480" y="3584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Alpha: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2011680" y="3584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11480" y="3895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Modules: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2011680" y="38953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v, o, gate, up, down proj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1148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201168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411480" y="45171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Params: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2011680" y="45171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 of total model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663440" y="283464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4663440" y="2834640"/>
            <a:ext cx="4206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754880" y="28620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4754880" y="3273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6355080" y="327355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2" name="Text 37"/>
          <p:cNvSpPr/>
          <p:nvPr/>
        </p:nvSpPr>
        <p:spPr>
          <a:xfrm>
            <a:off x="4754880" y="3584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6355080" y="35844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(grad_accum = 4  →  effective 8)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4754880" y="3895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</a:t>
            </a:r>
            <a:endParaRPr lang="en-US" sz="1050" dirty="0"/>
          </a:p>
        </p:txBody>
      </p:sp>
      <p:sp>
        <p:nvSpPr>
          <p:cNvPr id="45" name="Text 40"/>
          <p:cNvSpPr/>
          <p:nvPr/>
        </p:nvSpPr>
        <p:spPr>
          <a:xfrm>
            <a:off x="6355080" y="38953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2e-4  ·  Cosine scheduler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475488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50" dirty="0"/>
          </a:p>
        </p:txBody>
      </p:sp>
      <p:sp>
        <p:nvSpPr>
          <p:cNvPr id="47" name="Text 42"/>
          <p:cNvSpPr/>
          <p:nvPr/>
        </p:nvSpPr>
        <p:spPr>
          <a:xfrm>
            <a:off x="6355080" y="42062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paged_adamw_8bit</a:t>
            </a:r>
            <a:endParaRPr lang="en-US" sz="1050" dirty="0"/>
          </a:p>
        </p:txBody>
      </p:sp>
      <p:sp>
        <p:nvSpPr>
          <p:cNvPr id="48" name="Text 43"/>
          <p:cNvSpPr/>
          <p:nvPr/>
        </p:nvSpPr>
        <p:spPr>
          <a:xfrm>
            <a:off x="4754880" y="45171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Seq Length: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6355080" y="45171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tokens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user query becomes a multilingual medical response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82296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881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User Query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symptoms in any language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"నాకు జ్వరం ఉంది"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856232"/>
            <a:ext cx="73152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6552" y="2112264"/>
            <a:ext cx="201168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1168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11680"/>
            <a:ext cx="82296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482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Language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395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range analysis: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U+0C00–U+0C7F = Telugu | U+0900–U+097F = Hindi | ...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2816352"/>
            <a:ext cx="73152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3072384"/>
            <a:ext cx="201168" cy="1280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7180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71800"/>
            <a:ext cx="82296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08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Prompt Construction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355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Language-specific instruction + few-shot examples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PROMPT_TEMPLATE.format(instruction, input)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776472"/>
            <a:ext cx="7315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16552" y="4032504"/>
            <a:ext cx="201168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93192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931920"/>
            <a:ext cx="82296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684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Model Generation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4315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max_new_tokens=300 · temperature=0.4 · top_p=0.9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repetition_penalty=1.3 · stop at role labels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4736592"/>
            <a:ext cx="2743200" cy="256032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4736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Medical response in the user's language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Iterations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tried, what failed, and why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4023360"/>
          </a:xfrm>
          <a:prstGeom prst="rect">
            <a:avLst/>
          </a:prstGeom>
          <a:solidFill>
            <a:srgbClr val="013A42"/>
          </a:solidFill>
          <a:ln w="12700">
            <a:solidFill>
              <a:srgbClr val="013A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1097280"/>
            <a:ext cx="5029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972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 + unsloth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3898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version conflict — TypeError on every run. English-only training data.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0" y="1188720"/>
            <a:ext cx="1097280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1819656"/>
            <a:ext cx="5029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81965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1837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 + few-shot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1122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Indian language text. Mixed scripts, nonsense words. Model too small.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1911096"/>
            <a:ext cx="1097280" cy="3657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9110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2542032"/>
            <a:ext cx="50292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54203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Sarvam-2B + few-shot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834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Works! Correct scripts. But responses short and sometimes incomplete.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0" y="2633472"/>
            <a:ext cx="109728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263347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3264408"/>
            <a:ext cx="50292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32644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282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Sarvam-2B + LoRA + hand-crafted 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355701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manual Q&amp;A pairs in Indian languages. Tedious, limited coverage.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72400" y="3355848"/>
            <a:ext cx="109728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33558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2880" y="3986784"/>
            <a:ext cx="50292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398678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4005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Sarvam-2B + LoRA + IndicTrans2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42793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translation of 2300+ real English medical Q&amp;As. Scalable solution.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4078224"/>
            <a:ext cx="109728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4078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Sample Output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responses across all 5 supported languages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82296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5331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 have had fever &amp; headache for 2 days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You may have a viral fever. Rest, drink plenty of fluids, and take paracetamol every 6 hours. See a doctor if fever exceeds 103°F or lasts more than 3 days.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5915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59152"/>
            <a:ext cx="822960" cy="3200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5915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HI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70662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मुझे बुखार और सिरदर्द है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980944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आपको वायरल बुखार हो सकता है। खूब पानी पिएं, पैरासिटामोल लें और आराम करें। बुखार 103°F से ऊपर जाए या 3 दिन से ज़्यादा रहे तो डॉक्टर से मिलें।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712464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12464"/>
            <a:ext cx="82296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71246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059936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నాకు జ్వరం మరియు తలనొప్పి ఉంది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334256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మీకు వైరల్ జ్వరం ఉండవచ్చు. నీరు బాగా త్రాగండి, పారాసిటమాల్ తీసుకోండి, విశ్రాంతి తీసుకోండి. జ్వరం 3 రోజులకు మించితే వైద్యుని సంప్రదించండి.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05840"/>
            <a:ext cx="82296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0058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135331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எனக்கு காய்ச்சல் மற்றும் தலைவலி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1627632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உங்களுக்கு வைரஸ் காய்ச்சல் இருக்கலாம். நிறைய தண்ணீர் குடிக்கவும், பாராசிட்டமால் எடுக்கவும். காய்ச்சல் 3 நாட்கள் தொடர்ந்தால் மருத்துவரை சந்திக்கவும்.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359152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359152"/>
            <a:ext cx="8229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35915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KA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706624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ನನಗೆ ಜ್ವರ ಮತ್ತು ತಲೆನೋವು ಇದೆ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980944"/>
            <a:ext cx="4041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ನಿಮಗೆ ವೈರಲ್ ಜ್ವರ ಇರಬಹುದು. ಸಾಕಷ್ಟು ನೀರು ಕುಡಿಯಿರಿ, ಪ್ಯಾರಾಸಿಟಮಾಲ್ ತೆಗೆದುಕೊಳ್ಳಿ. ಜ್ವರ 3 ದಿನ ಮೀರಿದರೆ ವೈದ್ಯರನ್ನು ಕಾಣಿರಿ.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 powering the entire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24712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97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143000" y="1499616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98448" y="1463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4.x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143000" y="1746504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98448" y="1709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language detect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143000" y="1993392"/>
            <a:ext cx="91440" cy="914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98448" y="19568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5-language dropdown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09160" y="100584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00600" y="109728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24712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77840" y="1097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577840" y="1499616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33288" y="1463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Sarvam-2B v0.5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577840" y="1746504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33288" y="17099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(PEFT 0.13)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577840" y="1993392"/>
            <a:ext cx="91440" cy="914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733288" y="19568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quant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74320" y="237744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65760" y="246888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496312"/>
            <a:ext cx="548640" cy="5486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143000" y="2468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1143000" y="287121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1298448" y="2834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 4.46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1143000" y="311810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298448" y="3081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API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1143000" y="336499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1298448" y="33284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 0.44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709160" y="237744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800600" y="24688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496312"/>
            <a:ext cx="548640" cy="54864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577840" y="2468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5577840" y="287121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733288" y="2834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ruslanmv/ai-medical-chatbot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5577840" y="311810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733288" y="3081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lavita/medical-qa-datasets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5577840" y="336499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733288" y="33284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Datasets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274320" y="374904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365760" y="3840480"/>
            <a:ext cx="640080" cy="6400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867912"/>
            <a:ext cx="548640" cy="54864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1143000" y="3840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</a:t>
            </a:r>
            <a:endParaRPr lang="en-US" sz="1300" dirty="0"/>
          </a:p>
        </p:txBody>
      </p:sp>
      <p:sp>
        <p:nvSpPr>
          <p:cNvPr id="49" name="Shape 42"/>
          <p:cNvSpPr/>
          <p:nvPr/>
        </p:nvSpPr>
        <p:spPr>
          <a:xfrm>
            <a:off x="1143000" y="4242816"/>
            <a:ext cx="91440" cy="914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1298448" y="4206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IndicTrans2 (1B)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1143000" y="4489704"/>
            <a:ext cx="91440" cy="914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1298448" y="44531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IndicTransTokenizer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1143000" y="4736592"/>
            <a:ext cx="91440" cy="914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1298448" y="47000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Indian languages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4709160" y="3749040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49"/>
          <p:cNvSpPr/>
          <p:nvPr/>
        </p:nvSpPr>
        <p:spPr>
          <a:xfrm>
            <a:off x="4800600" y="3840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867912"/>
            <a:ext cx="548640" cy="548640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5577840" y="3840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59" name="Shape 51"/>
          <p:cNvSpPr/>
          <p:nvPr/>
        </p:nvSpPr>
        <p:spPr>
          <a:xfrm>
            <a:off x="5577840" y="424281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5733288" y="4206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GPU</a:t>
            </a:r>
            <a:endParaRPr lang="en-US" sz="1000" dirty="0"/>
          </a:p>
        </p:txBody>
      </p:sp>
      <p:sp>
        <p:nvSpPr>
          <p:cNvPr id="61" name="Shape 53"/>
          <p:cNvSpPr/>
          <p:nvPr/>
        </p:nvSpPr>
        <p:spPr>
          <a:xfrm>
            <a:off x="5577840" y="448970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5733288" y="44531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2.x</a:t>
            </a:r>
            <a:endParaRPr lang="en-US" sz="1000" dirty="0"/>
          </a:p>
        </p:txBody>
      </p:sp>
      <p:sp>
        <p:nvSpPr>
          <p:cNvPr id="63" name="Shape 55"/>
          <p:cNvSpPr/>
          <p:nvPr/>
        </p:nvSpPr>
        <p:spPr>
          <a:xfrm>
            <a:off x="5577840" y="473659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5733288" y="47000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12.x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to improve and scale the chatbot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51760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3327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Coverage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" y="2395728"/>
            <a:ext cx="6400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to 2000+ Indian language Q&amp;As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" y="3218688"/>
            <a:ext cx="6400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Bengali, Marathi, Gujarati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4041648"/>
            <a:ext cx="64008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4023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translation quality with back-translation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05840"/>
            <a:ext cx="265176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03327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Evaluation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10128" y="2395728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by native speakers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0128" y="3218688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accuracy review by doctors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0128" y="4041648"/>
            <a:ext cx="6400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4023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/ ROUGE scores on held-out test set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100584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005840"/>
            <a:ext cx="265176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03327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90488" y="2395728"/>
            <a:ext cx="64008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rural health workers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90488" y="3218688"/>
            <a:ext cx="64008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for low-literacy users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90488" y="4041648"/>
            <a:ext cx="64008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4023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government health portals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194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Medical Chatbot · Sarvam-2B + LoRA + IndicTrans2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  ·   हिंदी   ·   తెలుగు   ·   தமிழ்   ·   ಕನ್ನಡ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1133</Words>
  <Application>Microsoft Office PowerPoint</Application>
  <PresentationFormat>On-screen Show (16:9)</PresentationFormat>
  <Paragraphs>268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Multilingual Medical Chatbot</dc:title>
  <dc:subject>PptxGenJS Presentation</dc:subject>
  <dc:creator>Multilingual Medical Chatbot</dc:creator>
  <cp:lastModifiedBy>Dinesh Bekkam</cp:lastModifiedBy>
  <cp:revision>2</cp:revision>
  <dcterms:created xsi:type="dcterms:W3CDTF">2026-03-09T05:36:36Z</dcterms:created>
  <dcterms:modified xsi:type="dcterms:W3CDTF">2026-03-09T10:10:24Z</dcterms:modified>
</cp:coreProperties>
</file>